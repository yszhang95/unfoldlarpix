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320040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Ionization Charge Unfolding at Zero-Suppressed
Liquid Argon Time Projection Chamber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478A"/>
                </a:solidFill>
              </a:rPr>
              <a:t>An Author   |   Brookhaven National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BBBB"/>
                </a:solidFill>
              </a:rPr>
              <a:t>JINST paper proposal  •  Signal Processing for ND-LAr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Paper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Structure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926080" cy="749808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1.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ND-LAr physics motivation, zero-suppression 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13432"/>
            <a:ext cx="2926080" cy="749808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13432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2. Signal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50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Traditional deconvolution review, readout logic, algorithm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9544"/>
            <a:ext cx="2926080" cy="749808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209544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3.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34670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Simulation setup, template/filter/threshold/noise studies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105656"/>
            <a:ext cx="2926080" cy="749808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105656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4.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24281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Truth bookkeeping, hardware, readout requirements, shield grid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001768"/>
            <a:ext cx="2926080" cy="749808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001768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5.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1389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Conclusions and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Why zero suppression breaks conventional signal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78A"/>
                </a:solidFill>
              </a:rPr>
              <a:t>ND-LAr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6596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Pixelated readout  (LArPix-v2 ASICs)</a:t>
            </a:r>
          </a:p>
          <a:p>
            <a:r>
              <a:rPr sz="1400">
                <a:solidFill>
                  <a:srgbClr val="1A1A2E"/>
                </a:solidFill>
              </a:rPr>
              <a:t>  •  Self-triggering: electronics dormant until charge exceeds discriminator threshold</a:t>
            </a:r>
          </a:p>
          <a:p>
            <a:r>
              <a:rPr sz="1400">
                <a:solidFill>
                  <a:srgbClr val="1A1A2E"/>
                </a:solidFill>
              </a:rPr>
              <a:t>  •  ADC fires only after a configurable hold delay (adc_hold_delay)</a:t>
            </a:r>
          </a:p>
          <a:p>
            <a:r>
              <a:rPr sz="1400">
                <a:solidFill>
                  <a:srgbClr val="1A1A2E"/>
                </a:solidFill>
              </a:rPr>
              <a:t>  •  Front-end resets and drains charge after each burst sequence</a:t>
            </a:r>
          </a:p>
          <a:p>
            <a:r>
              <a:rPr sz="1400">
                <a:solidFill>
                  <a:srgbClr val="1A1A2E"/>
                </a:solidFill>
              </a:rPr>
              <a:t>  •  Burst mode: records several consecutive integration windows without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78A"/>
                </a:solidFill>
              </a:rPr>
              <a:t>Consequences for signal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Waveform is truncated: only charge above threshold is recorded</a:t>
            </a:r>
          </a:p>
          <a:p>
            <a:r>
              <a:rPr sz="1400">
                <a:solidFill>
                  <a:srgbClr val="1A1A2E"/>
                </a:solidFill>
              </a:rPr>
              <a:t>  •  First trigger time is known; subsequent hits lose exact start time</a:t>
            </a:r>
          </a:p>
          <a:p>
            <a:r>
              <a:rPr sz="1400">
                <a:solidFill>
                  <a:srgbClr val="1A1A2E"/>
                </a:solidFill>
              </a:rPr>
              <a:t>  •  Negative induction signals from neighboring pixels are never recorded</a:t>
            </a:r>
          </a:p>
          <a:p>
            <a:r>
              <a:rPr sz="1400">
                <a:solidFill>
                  <a:srgbClr val="1A1A2E"/>
                </a:solidFill>
              </a:rPr>
              <a:t>  •  Reset mechanism may cause charge to be lost or overestimated</a:t>
            </a:r>
          </a:p>
          <a:p>
            <a:r>
              <a:rPr sz="1400">
                <a:solidFill>
                  <a:srgbClr val="1A1A2E"/>
                </a:solidFill>
              </a:rPr>
              <a:t>  •  Traditional deconvolution assumes full, equally-spaced waveform sampling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343400"/>
            <a:ext cx="1154887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407408"/>
            <a:ext cx="11183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Goal:  Recover approximate full waveforms using physics-guided templates, then apply FFT-based 3D deconvolution to unfold the ionization charge.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Traditional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What works at the far detector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78A"/>
                </a:solidFill>
              </a:rPr>
              <a:t>System model:   m(t) = r(t) * s(t) + n(t)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m(t)  measured waveform,  r(t)  detector + electronics response,  s(t)  ionization signal,  n(t)  noise</a:t>
            </a:r>
          </a:p>
          <a:p>
            <a:r>
              <a:rPr sz="1400">
                <a:solidFill>
                  <a:srgbClr val="1A1A2E"/>
                </a:solidFill>
              </a:rPr>
              <a:t>  •  Deconvolution in frequency domain:  S(w) = M(w) / R(w)  (minus noise term)</a:t>
            </a:r>
          </a:p>
          <a:p>
            <a:r>
              <a:rPr sz="1400">
                <a:solidFill>
                  <a:srgbClr val="1A1A2E"/>
                </a:solidFill>
              </a:rPr>
              <a:t>  •  Gaussian filter suppresses blow-up at small R(w) while preserving the charge integral</a:t>
            </a:r>
          </a:p>
          <a:p>
            <a:r>
              <a:rPr sz="1400">
                <a:solidFill>
                  <a:srgbClr val="1A1A2E"/>
                </a:solidFill>
              </a:rPr>
              <a:t>  •  Region-of-interest (ROI) selection removes signal-free time bins</a:t>
            </a:r>
          </a:p>
          <a:p>
            <a:r>
              <a:rPr sz="1400">
                <a:solidFill>
                  <a:srgbClr val="1A1A2E"/>
                </a:solidFill>
              </a:rPr>
              <a:t>  •  Wiener-inspired filters give simultaneous spatial and charge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C0A"/>
                </a:solidFill>
              </a:rPr>
              <a:t>Why this fails at ND-LAr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177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Zero suppression destroys the continuous, equally-spaced waveform required by FFT</a:t>
            </a:r>
          </a:p>
          <a:p>
            <a:r>
              <a:rPr sz="1400">
                <a:solidFill>
                  <a:srgbClr val="1A1A2E"/>
                </a:solidFill>
              </a:rPr>
              <a:t>  •  The recorded signal is no longer a linear function of ionization charge</a:t>
            </a:r>
          </a:p>
          <a:p>
            <a:r>
              <a:rPr sz="1400">
                <a:solidFill>
                  <a:srgbClr val="1A1A2E"/>
                </a:solidFill>
              </a:rPr>
              <a:t>  •  Direct convolution / deconvolution on raw measurements is invalid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ND-LAr Readout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Self-triggering and burst mode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— readout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Self-trigger cycle (single hit)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Charge accumulates on CSA front-end</a:t>
            </a:r>
          </a:p>
          <a:p>
            <a:r>
              <a:rPr sz="1300">
                <a:solidFill>
                  <a:srgbClr val="1A1A2E"/>
                </a:solidFill>
              </a:rPr>
              <a:t>  •  Discriminator fires when charge &gt; threshold</a:t>
            </a:r>
          </a:p>
          <a:p>
            <a:r>
              <a:rPr sz="1300">
                <a:solidFill>
                  <a:srgbClr val="1A1A2E"/>
                </a:solidFill>
              </a:rPr>
              <a:t>  •  After adc_hold_delay, ADC latches charge if still above threshold (veto random noise)</a:t>
            </a:r>
          </a:p>
          <a:p>
            <a:r>
              <a:rPr sz="1300">
                <a:solidFill>
                  <a:srgbClr val="1A1A2E"/>
                </a:solidFill>
              </a:rPr>
              <a:t>  •  During ADC conversion, no new triggers possible  =&gt;  dead time</a:t>
            </a:r>
          </a:p>
          <a:p>
            <a:r>
              <a:rPr sz="1300">
                <a:solidFill>
                  <a:srgbClr val="1A1A2E"/>
                </a:solidFill>
              </a:rPr>
              <a:t>  •  Front-end resets; new charge accumulation starts</a:t>
            </a:r>
          </a:p>
          <a:p>
            <a:r>
              <a:rPr sz="1300">
                <a:solidFill>
                  <a:srgbClr val="1A1A2E"/>
                </a:solidFill>
              </a:rPr>
              <a:t>  •  First trigger time is recorded precisely; consecutive hits lose exact start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Burst mode 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Front-end does NOT reset after the first hold window</a:t>
            </a:r>
          </a:p>
          <a:p>
            <a:r>
              <a:rPr sz="1300">
                <a:solidFill>
                  <a:srgbClr val="1A1A2E"/>
                </a:solidFill>
              </a:rPr>
              <a:t>  •  Records several more charge integrals at fixed time windows (adc_hold_delay)</a:t>
            </a:r>
          </a:p>
          <a:p>
            <a:r>
              <a:rPr sz="1300">
                <a:solidFill>
                  <a:srgbClr val="1A1A2E"/>
                </a:solidFill>
              </a:rPr>
              <a:t>  •  Resets only at the end of the burst sequence</a:t>
            </a:r>
          </a:p>
          <a:p>
            <a:r>
              <a:rPr sz="1300">
                <a:solidFill>
                  <a:srgbClr val="1A1A2E"/>
                </a:solidFill>
              </a:rPr>
              <a:t>  •  Burst length (nburst) is a configurable parameter</a:t>
            </a:r>
          </a:p>
          <a:p>
            <a:r>
              <a:rPr sz="1300">
                <a:solidFill>
                  <a:srgbClr val="1A1A2E"/>
                </a:solidFill>
              </a:rPr>
              <a:t>  •  Gives more waveform samples per trigger at the cost of saturation risk</a:t>
            </a:r>
          </a:p>
          <a:p>
            <a:r>
              <a:rPr sz="1300">
                <a:solidFill>
                  <a:srgbClr val="1A1A2E"/>
                </a:solidFill>
              </a:rPr>
              <a:t>  •  Code: t_first = trigger_time + adc_hold_delay;  t_last = trigger_time + adc_hold_delay * nburst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800600"/>
            <a:ext cx="1154887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Key quantity: the gap between two burst sequences  =  t_B_start - t_A_last  (difference of burst start times, not integration end times)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Algorithm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Three-stage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—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3108960" cy="68580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Stage 1
Waveform Recovery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906524"/>
            <a:ext cx="411480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13632" y="1851660"/>
            <a:ext cx="73152" cy="14630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00200"/>
            <a:ext cx="3108960" cy="68580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Stage 2
3D FFT Deconvolution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906524"/>
            <a:ext cx="411480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851660"/>
            <a:ext cx="73152" cy="14630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1600200"/>
            <a:ext cx="3108960" cy="68580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600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Stage 3
Active Voxel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  •  Extract burst sequences per pixel</a:t>
            </a:r>
          </a:p>
          <a:p>
            <a:r>
              <a:rPr sz="1200">
                <a:solidFill>
                  <a:srgbClr val="1A1A2E"/>
                </a:solidFill>
              </a:rPr>
              <a:t>  •  Pass 1: dead-time merge (gap &lt;= tau)</a:t>
            </a:r>
          </a:p>
          <a:p>
            <a:r>
              <a:rPr sz="1200">
                <a:solidFill>
                  <a:srgbClr val="1A1A2E"/>
                </a:solidFill>
              </a:rPr>
              <a:t>  •  Pass 2: template compensation (gap &gt; tau)</a:t>
            </a:r>
          </a:p>
          <a:p>
            <a:r>
              <a:rPr sz="1200">
                <a:solidFill>
                  <a:srgbClr val="1A1A2E"/>
                </a:solidFill>
              </a:rPr>
              <a:t>  •  Assemble into 3D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  •  Load &amp; integrate field response kernel</a:t>
            </a:r>
          </a:p>
          <a:p>
            <a:r>
              <a:rPr sz="1200">
                <a:solidFill>
                  <a:srgbClr val="1A1A2E"/>
                </a:solidFill>
              </a:rPr>
              <a:t>  •  Build 3D Gaussian filter</a:t>
            </a:r>
          </a:p>
          <a:p>
            <a:r>
              <a:rPr sz="1200">
                <a:solidFill>
                  <a:srgbClr val="1A1A2E"/>
                </a:solidFill>
              </a:rPr>
              <a:t>  •  FFT deconvolution: S = M / R  x  G</a:t>
            </a:r>
          </a:p>
          <a:p>
            <a:r>
              <a:rPr sz="1200">
                <a:solidFill>
                  <a:srgbClr val="1A1A2E"/>
                </a:solidFill>
              </a:rPr>
              <a:t>  •  Trim &amp; roll output to correct offset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  •  Apply 3D Gaussian filter to deconv output</a:t>
            </a:r>
          </a:p>
          <a:p>
            <a:r>
              <a:rPr sz="1200">
                <a:solidFill>
                  <a:srgbClr val="1A1A2E"/>
                </a:solidFill>
              </a:rPr>
              <a:t>  •  Select voxels with charge &gt; 500 e-</a:t>
            </a:r>
          </a:p>
          <a:p>
            <a:r>
              <a:rPr sz="1200">
                <a:solidFill>
                  <a:srgbClr val="1A1A2E"/>
                </a:solidFill>
              </a:rPr>
              <a:t>  •  (Ongoing) Wiener-inspired frequency filter</a:t>
            </a:r>
          </a:p>
          <a:p>
            <a:r>
              <a:rPr sz="1200">
                <a:solidFill>
                  <a:srgbClr val="1A1A2E"/>
                </a:solidFill>
              </a:rPr>
              <a:t>  •  Compare with smeared truth for residual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BB"/>
                </a:solidFill>
              </a:rPr>
              <a:t>Input: raw LArPix hit data  (pixel x/y, trigger time, burst charge integrals)     Output: 3D deconvolved charge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1 — Burst Sequence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From raw hits to per-pixel 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Raw hit data format (Hits container)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54864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location[:, 0]  pixel_x
location[:, 1]  pixel_y
location[:, 2]  trigger_time_idx
location[:, 3]  last_adc_latch
location[:, 4]  next_integration_start
data[:, 3:]     cumulative charge per burst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002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Per-pixel BurstSequence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92024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charges = diff(cumulative data)  =&gt;  charge per burst window</a:t>
            </a:r>
          </a:p>
          <a:p>
            <a:r>
              <a:rPr sz="1300">
                <a:solidFill>
                  <a:srgbClr val="1A1A2E"/>
                </a:solidFill>
              </a:rPr>
              <a:t>  •  t_first = trigger_time_idx + adc_hold_delay</a:t>
            </a:r>
          </a:p>
          <a:p>
            <a:r>
              <a:rPr sz="1300">
                <a:solidFill>
                  <a:srgbClr val="1A1A2E"/>
                </a:solidFill>
              </a:rPr>
              <a:t>  •  t_last  = trigger_time_idx + adc_hold_delay * nburst</a:t>
            </a:r>
          </a:p>
          <a:p>
            <a:r>
              <a:rPr sz="1300">
                <a:solidFill>
                  <a:srgbClr val="1A1A2E"/>
                </a:solidFill>
              </a:rPr>
              <a:t>  •  Sequences grouped by (pixel_x, pixel_y) and sorted by trigger_time_idx</a:t>
            </a:r>
          </a:p>
          <a:p>
            <a:r>
              <a:rPr sz="1300">
                <a:solidFill>
                  <a:srgbClr val="1A1A2E"/>
                </a:solidFill>
              </a:rPr>
              <a:t>  •  Validation: no overlapping sequences (t_first[k+1] &gt;= t_last[k])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20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Gap definition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11548872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gap = seq_B.t_first - seq_A.t_last     (gap between the start of B and the start of the last burst of A, NOT the end of A's integration window)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5720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gap = 0:  sequences are adjacent (touching) but not overlapping</a:t>
            </a:r>
          </a:p>
          <a:p>
            <a:r>
              <a:rPr sz="1400">
                <a:solidFill>
                  <a:srgbClr val="1A1A2E"/>
                </a:solidFill>
              </a:rPr>
              <a:t>  •  0 &lt; gap &lt;= tau:  close enough for dead-time compensation  (Pass 1)</a:t>
            </a:r>
          </a:p>
          <a:p>
            <a:r>
              <a:rPr sz="1400">
                <a:solidFill>
                  <a:srgbClr val="1A1A2E"/>
                </a:solidFill>
              </a:rPr>
              <a:t>  •  gap &gt; tau:  template compensation required  (Pass 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1 — Two-Pass Waveform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Dead-time merge then template fill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 detail  (BurstSequenceProcessorV3)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394960" cy="2331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184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Pass 1 — Dead-Time Compensation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•  Iterate over sequences for a pixel in time order</a:t>
            </a:r>
          </a:p>
          <a:p>
            <a:r>
              <a:rPr sz="1200">
                <a:solidFill>
                  <a:srgbClr val="FFFFFF"/>
                </a:solidFill>
              </a:rPr>
              <a:t>  •  If gap &lt;= tau:  merge seq_A and seq_B</a:t>
            </a:r>
          </a:p>
          <a:p>
            <a:r>
              <a:rPr sz="1200">
                <a:solidFill>
                  <a:srgbClr val="FFFFFF"/>
                </a:solidFill>
              </a:rPr>
              <a:t>  •     slope = charge_B[0] / (gap - deadtime)</a:t>
            </a:r>
          </a:p>
          <a:p>
            <a:r>
              <a:rPr sz="1200">
                <a:solidFill>
                  <a:srgbClr val="FFFFFF"/>
                </a:solidFill>
              </a:rPr>
              <a:t>  •     compensated = slope * deadtime</a:t>
            </a:r>
          </a:p>
          <a:p>
            <a:r>
              <a:rPr sz="1200">
                <a:solidFill>
                  <a:srgbClr val="FFFFFF"/>
                </a:solidFill>
              </a:rPr>
              <a:t>  •     first charge of B += compensated</a:t>
            </a:r>
          </a:p>
          <a:p>
            <a:r>
              <a:rPr sz="1200">
                <a:solidFill>
                  <a:srgbClr val="FFFFFF"/>
                </a:solidFill>
              </a:rPr>
              <a:t>  •  Output: list of MergedBurstGroups (one per cluster)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770632"/>
            <a:ext cx="502920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2715768"/>
            <a:ext cx="73152" cy="14630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623560" cy="233172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1848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Pass 2 — Template Compensation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394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•  Treat each MergedBurstGroup as a block</a:t>
            </a:r>
          </a:p>
          <a:p>
            <a:r>
              <a:rPr sz="1200">
                <a:solidFill>
                  <a:srgbClr val="FFFFFF"/>
                </a:solidFill>
              </a:rPr>
              <a:t>  •  Select template: collection (max cumq &gt; threshold) or</a:t>
            </a:r>
          </a:p>
          <a:p>
            <a:r>
              <a:rPr sz="1200">
                <a:solidFill>
                  <a:srgbClr val="FFFFFF"/>
                </a:solidFill>
              </a:rPr>
              <a:t>  •     induction positive prefix (max cumq &lt;= threshold)</a:t>
            </a:r>
          </a:p>
          <a:p>
            <a:r>
              <a:rPr sz="1200">
                <a:solidFill>
                  <a:srgbClr val="FFFFFF"/>
                </a:solidFill>
              </a:rPr>
              <a:t>  •  Find transit fraction: threshold / max_cumulative_charge</a:t>
            </a:r>
          </a:p>
          <a:p>
            <a:r>
              <a:rPr sz="1200">
                <a:solidFill>
                  <a:srgbClr val="FFFFFF"/>
                </a:solidFill>
              </a:rPr>
              <a:t>  •  Scan template to find window of length = gap - deadtime</a:t>
            </a:r>
          </a:p>
          <a:p>
            <a:r>
              <a:rPr sz="1200">
                <a:solidFill>
                  <a:srgbClr val="FFFFFF"/>
                </a:solidFill>
              </a:rPr>
              <a:t>  •     that rises by transit fraction</a:t>
            </a:r>
          </a:p>
          <a:p>
            <a:r>
              <a:rPr sz="1200">
                <a:solidFill>
                  <a:srgbClr val="FFFFFF"/>
                </a:solidFill>
              </a:rPr>
              <a:t>  •  Interpolate template points, append before group</a:t>
            </a:r>
          </a:p>
          <a:p>
            <a:r>
              <a:rPr sz="1200">
                <a:solidFill>
                  <a:srgbClr val="FFFFFF"/>
                </a:solidFill>
              </a:rPr>
              <a:t>  •  Scale so template endpoint equals threshold</a:t>
            </a:r>
          </a:p>
          <a:p>
            <a:r>
              <a:rPr sz="1200">
                <a:solidFill>
                  <a:srgbClr val="FFFFFF"/>
                </a:solidFill>
              </a:rPr>
              <a:t>  •  Output: continuous MergedSequence per pixel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69080"/>
            <a:ext cx="11548872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Bootstrap (first sequence):  no previous time; scan template from its start to find where cumulative equals transit fraction, then work backwards to trigger_time_idx.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78A"/>
                </a:solidFill>
              </a:rPr>
              <a:t>Block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1206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All MergedSequences binned into 3D array (pixel_x, pixel_y, time_bin)</a:t>
            </a:r>
          </a:p>
          <a:p>
            <a:r>
              <a:rPr sz="1300">
                <a:solidFill>
                  <a:srgbClr val="1A1A2E"/>
                </a:solidFill>
              </a:rPr>
              <a:t>  •  Time bin size = adc_hold_delay;  padded by npadbin bins on each side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Burst Processor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V1 vs V2 vs V3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 variants  (burst_processor.py / v2.py / v3.py)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103120" cy="41148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600200"/>
            <a:ext cx="1645920" cy="41148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1645920" cy="41148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00200"/>
            <a:ext cx="2194560" cy="41148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600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11680"/>
            <a:ext cx="21031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0116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0116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2011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Single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0116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011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Single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01168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011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Two passes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14600"/>
            <a:ext cx="21031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Dead-time merge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51460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2514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Slope compensation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51460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514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Slope compensation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51460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514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Pass 1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17520"/>
            <a:ext cx="21031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017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Time alignment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301752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0175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Global binning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01752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30175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Fractional FFT phase shift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017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017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Global binning only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520440"/>
            <a:ext cx="21031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520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Template mode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520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Single (cumulative)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520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Single (cumulative)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52044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3520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Dual: collection + induction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023360"/>
            <a:ext cx="21031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0233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Template selection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0233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0" y="4023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Fixed per pixel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0233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023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Fixed per pixel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02336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0233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Per merged group by charge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5303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78A"/>
                </a:solidFill>
              </a:rPr>
              <a:t>Notes: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5623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  •  V1: baseline single-pass processor; most direct implementation of dead-time + template compensation.</a:t>
            </a:r>
          </a:p>
          <a:p>
            <a:r>
              <a:rPr sz="1200">
                <a:solidFill>
                  <a:srgbClr val="1A1A2E"/>
                </a:solidFill>
              </a:rPr>
              <a:t>  •  V2: adds sub-sample time-jitter correction via frequency-domain phase shifts; higher complexity; not used in current pipeline.</a:t>
            </a:r>
          </a:p>
          <a:p>
            <a:r>
              <a:rPr sz="1200">
                <a:solidFill>
                  <a:srgbClr val="1A1A2E"/>
                </a:solidFill>
              </a:rPr>
              <a:t>  •  V3 (current): two-pass strategy separates close-sequence merging from distant-gap filling; introduces charge-dependent template selection.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1 — Field Response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What gets used as the physics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 detail  (deconv_workflow.py  /  field_response.py)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Three template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2560320" cy="105156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Response at the center of the collection pixel only.
Fast, symmetric, good approximation for high-charge pixels.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108960"/>
            <a:ext cx="2560320" cy="105156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10896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0040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Average response over all intra-pixel sampling paths of the collection pixel.
Reduces path-dependent smearing.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51960"/>
            <a:ext cx="2560320" cy="105156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25196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collection_plus_neighbors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34340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Average over collection pixel plus the 8 surrounding neighbors (radius=1).
Captures long-range induction; uses positive_cumulative template search mode.
V3 processor further splits: collection template for pixels with max cumq &gt; threshold,
induction (positive-prefix only) for pixels with max cumq &lt;=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78A"/>
                </a:solidFill>
              </a:rPr>
              <a:t>Template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949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Raw field response multiplied by time_tick, spatial quadrant mirrored to full plane</a:t>
            </a:r>
          </a:p>
          <a:p>
            <a:r>
              <a:rPr sz="1300">
                <a:solidFill>
                  <a:srgbClr val="1A1A2E"/>
                </a:solidFill>
              </a:rPr>
              <a:t>  •  Kernel flipped for convolution; intra-pixel paths downsampled by averaging</a:t>
            </a:r>
          </a:p>
          <a:p>
            <a:r>
              <a:rPr sz="1300">
                <a:solidFill>
                  <a:srgbClr val="1A1A2E"/>
                </a:solidFill>
              </a:rPr>
              <a:t>  •  Cumulative template built from cumsum, then maximum.accumulate enforces monotone increase  (handles bipolar dips)</a:t>
            </a:r>
          </a:p>
          <a:p>
            <a:r>
              <a:rPr sz="1300">
                <a:solidFill>
                  <a:srgbClr val="1A1A2E"/>
                </a:solidFill>
              </a:rPr>
              <a:t>  •  Induction template for V3: keep only leading positive prefix of bipolar waveform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2 — 3D FFT Deconvolution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Inverting the detector response in frequency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 detail  (deconv.py)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Recovered 3D charge block  (pixel_x, pixel_y, time_bin)</a:t>
            </a:r>
          </a:p>
          <a:p>
            <a:r>
              <a:rPr sz="1300">
                <a:solidFill>
                  <a:srgbClr val="1A1A2E"/>
                </a:solidFill>
              </a:rPr>
              <a:t>  •  Field response kernel: averaged over intra-pixel paths, then summed per adc_hold_delay time window</a:t>
            </a:r>
          </a:p>
          <a:p>
            <a:r>
              <a:rPr sz="1300">
                <a:solidFill>
                  <a:srgbClr val="1A1A2E"/>
                </a:solidFill>
              </a:rPr>
              <a:t>  •     kernel shape:  (n_pix_x, n_pix_y, n_time_bins)</a:t>
            </a:r>
          </a:p>
          <a:p>
            <a:r>
              <a:rPr sz="1300">
                <a:solidFill>
                  <a:srgbClr val="1A1A2E"/>
                </a:solidFill>
              </a:rPr>
              <a:t>  •  3D Gaussian filter   sigma_pixel x sigma_pixel x sigma_time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Deconvolution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Zero-pad both block and kernel to extended shape  (avoids circular aliasing)</a:t>
            </a:r>
          </a:p>
          <a:p>
            <a:r>
              <a:rPr sz="1300">
                <a:solidFill>
                  <a:srgbClr val="1A1A2E"/>
                </a:solidFill>
              </a:rPr>
              <a:t>  •  rfftn(block)  and  rfftn(kernel)  =&gt;  frequency-domain arrays</a:t>
            </a:r>
          </a:p>
          <a:p>
            <a:r>
              <a:rPr sz="1300">
                <a:solidFill>
                  <a:srgbClr val="1A1A2E"/>
                </a:solidFill>
              </a:rPr>
              <a:t>  •  Divide element-wise:  S_hat = M_hat / R_hat</a:t>
            </a:r>
          </a:p>
          <a:p>
            <a:r>
              <a:rPr sz="1300">
                <a:solidFill>
                  <a:srgbClr val="1A1A2E"/>
                </a:solidFill>
              </a:rPr>
              <a:t>  •  Multiply by Gaussian filter  G_hat  to suppress high-frequency noise</a:t>
            </a:r>
          </a:p>
          <a:p>
            <a:r>
              <a:rPr sz="1300">
                <a:solidFill>
                  <a:srgbClr val="1A1A2E"/>
                </a:solidFill>
              </a:rPr>
              <a:t>  •  irfftn  =&gt;  real-space deconvolved charge</a:t>
            </a:r>
          </a:p>
          <a:p>
            <a:r>
              <a:rPr sz="1300">
                <a:solidFill>
                  <a:srgbClr val="1A1A2E"/>
                </a:solidFill>
              </a:rPr>
              <a:t>  •  Roll by kernel half-width to re-center output</a:t>
            </a:r>
          </a:p>
          <a:p>
            <a:r>
              <a:rPr sz="1300">
                <a:solidFill>
                  <a:srgbClr val="1A1A2E"/>
                </a:solidFill>
              </a:rPr>
              <a:t>  •  Trim to expected spatial and time extent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3D Gaussian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690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Separable product of 1D Gaussians along each axis</a:t>
            </a:r>
          </a:p>
          <a:p>
            <a:r>
              <a:rPr sz="1300">
                <a:solidFill>
                  <a:srgbClr val="1A1A2E"/>
                </a:solidFill>
              </a:rPr>
              <a:t>  •  Pixel axes:  sigma_pixel  (in units of pixel pitch)</a:t>
            </a:r>
          </a:p>
          <a:p>
            <a:r>
              <a:rPr sz="1300">
                <a:solidFill>
                  <a:srgbClr val="1A1A2E"/>
                </a:solidFill>
              </a:rPr>
              <a:t>  •  Time axis:   sigma_time   (in same units as adc_hold_delay)</a:t>
            </a:r>
          </a:p>
          <a:p>
            <a:r>
              <a:rPr sz="1300">
                <a:solidFill>
                  <a:srgbClr val="1A1A2E"/>
                </a:solidFill>
              </a:rPr>
              <a:t>  •  Built in frequency space via rfftfreq / fftfreq for each axis</a:t>
            </a:r>
          </a:p>
          <a:p>
            <a:r>
              <a:rPr sz="1300">
                <a:solidFill>
                  <a:srgbClr val="1A1A2E"/>
                </a:solidFill>
              </a:rPr>
              <a:t>  •  Typical values:  sigma_pixel ~ 0.8 pitch,  sigma_time ~ 1.6 to several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6908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FFT-based:  O(N log N)  where N = total number of voxels</a:t>
            </a:r>
          </a:p>
          <a:p>
            <a:r>
              <a:rPr sz="1300">
                <a:solidFill>
                  <a:srgbClr val="1A1A2E"/>
                </a:solidFill>
              </a:rPr>
              <a:t>  •  Compatible with GPU acceleration via PyTorch / CuPy rfftn</a:t>
            </a:r>
          </a:p>
          <a:p>
            <a:r>
              <a:rPr sz="1300">
                <a:solidFill>
                  <a:srgbClr val="1A1A2E"/>
                </a:solidFill>
              </a:rPr>
              <a:t>  •  Block-wise deconvolution planned to reduce memory footprint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3 — Active Voxel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Selecting reconstructed signal voxels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Current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Gaussian filter applied to deconvolved 3D array</a:t>
            </a:r>
          </a:p>
          <a:p>
            <a:r>
              <a:rPr sz="1400">
                <a:solidFill>
                  <a:srgbClr val="1A1A2E"/>
                </a:solidFill>
              </a:rPr>
              <a:t>  •  Voxels with filtered charge &gt; 500 e- are kept as active</a:t>
            </a:r>
          </a:p>
          <a:p>
            <a:r>
              <a:rPr sz="1400">
                <a:solidFill>
                  <a:srgbClr val="1A1A2E"/>
                </a:solidFill>
              </a:rPr>
              <a:t>  •  500 e- corresponds approximately to the LArPix-v2 front-end noise standard deviation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002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Truth comparison via Gaussian smearing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The same 3D Gaussian filter is applied to the true ionization charge (from simulation)</a:t>
            </a:r>
          </a:p>
          <a:p>
            <a:r>
              <a:rPr sz="1300">
                <a:solidFill>
                  <a:srgbClr val="1A1A2E"/>
                </a:solidFill>
              </a:rPr>
              <a:t>  •  Active deconvolved voxels define a set of (pixel, time-bin) pairs</a:t>
            </a:r>
          </a:p>
          <a:p>
            <a:r>
              <a:rPr sz="1300">
                <a:solidFill>
                  <a:srgbClr val="1A1A2E"/>
                </a:solidFill>
              </a:rPr>
              <a:t>  •  True charge in matching pairs is summed and linked to particle ID</a:t>
            </a:r>
          </a:p>
          <a:p>
            <a:r>
              <a:rPr sz="1300">
                <a:solidFill>
                  <a:srgbClr val="1A1A2E"/>
                </a:solidFill>
              </a:rPr>
              <a:t>  •  Residual = deconvolved charge - smeared true charge  per voxel</a:t>
            </a:r>
          </a:p>
          <a:p>
            <a:r>
              <a:rPr sz="1300">
                <a:solidFill>
                  <a:srgbClr val="1A1A2E"/>
                </a:solidFill>
              </a:rPr>
              <a:t>  •  This allows fair comparison without mismatch from detector smearing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C0A"/>
                </a:solidFill>
              </a:rPr>
              <a:t>Ongoing: Wiener-inspired frequency filter for voxel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749039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Form:  F(w) = exp( -(w/a)^b )  applied in frequency domain</a:t>
            </a:r>
          </a:p>
          <a:p>
            <a:r>
              <a:rPr sz="1400">
                <a:solidFill>
                  <a:srgbClr val="1A1A2E"/>
                </a:solidFill>
              </a:rPr>
              <a:t>  •  Goal: adaptively suppress noise-dominated frequency bands</a:t>
            </a:r>
          </a:p>
          <a:p>
            <a:r>
              <a:rPr sz="1400">
                <a:solidFill>
                  <a:srgbClr val="1A1A2E"/>
                </a:solidFill>
              </a:rPr>
              <a:t>  •  Will replace fixed-threshold selection with a signal-to-noise driven criterion</a:t>
            </a:r>
          </a:p>
          <a:p>
            <a:r>
              <a:rPr sz="1400">
                <a:solidFill>
                  <a:srgbClr val="1A1A2E"/>
                </a:solidFill>
              </a:rPr>
              <a:t>  •  Under active development; not yet in the main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303520"/>
            <a:ext cx="1154887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3492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Output payload (NPZ):  deconv_q, boffset, smeared_true, smear_offset, hits data, effective-charge truth, template-compensation diagnostics, geometry metadata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Simulation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How performance is evaluated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3 —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Detector and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Geometry:  ProtoDUNE-ND  (2x2 experiment modules)</a:t>
            </a:r>
          </a:p>
          <a:p>
            <a:r>
              <a:rPr sz="1400">
                <a:solidFill>
                  <a:srgbClr val="1A1A2E"/>
                </a:solidFill>
              </a:rPr>
              <a:t>  •  Input:     positron particle gun</a:t>
            </a:r>
          </a:p>
          <a:p>
            <a:r>
              <a:rPr sz="1400">
                <a:solidFill>
                  <a:srgbClr val="1A1A2E"/>
                </a:solidFill>
              </a:rPr>
              <a:t>  •  Simulator: TRED  (GPU-accelerated, provides true ionization charge with particle ID)</a:t>
            </a:r>
          </a:p>
          <a:p>
            <a:r>
              <a:rPr sz="1400">
                <a:solidFill>
                  <a:srgbClr val="1A1A2E"/>
                </a:solidFill>
              </a:rPr>
              <a:t>  •  Provides: hit data, effective charge truth (effq), waveforms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Charge residual:  deconvolved charge minus smeared true charge per active voxel</a:t>
            </a:r>
          </a:p>
          <a:p>
            <a:r>
              <a:rPr sz="1400">
                <a:solidFill>
                  <a:srgbClr val="1A1A2E"/>
                </a:solidFill>
              </a:rPr>
              <a:t>  •  Residual width characterizes charge reconstruction resolution</a:t>
            </a:r>
          </a:p>
          <a:p>
            <a:r>
              <a:rPr sz="1400">
                <a:solidFill>
                  <a:srgbClr val="1A1A2E"/>
                </a:solidFill>
              </a:rPr>
              <a:t>  •  Studies vary: template choice, filter width, threshold, noise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931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Study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251960"/>
            <a:ext cx="2011680" cy="438912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25196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315968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center / collection / collection+neighbors / (ongoing: filtered template)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782312"/>
            <a:ext cx="2011680" cy="438912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7823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8463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Pixel Gaussian sigma ~ 0.8 pitch;  time sigma from 1.6 us to several 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312664"/>
            <a:ext cx="2011680" cy="438912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53126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37667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No threshold vs 1000 e- vs 5000 e- (lower threshold preserves more waveform info)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843016"/>
            <a:ext cx="2011680" cy="438912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8430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907024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With and without simulated LArPix-v2 noise  (noise is subleading effect)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What the numbers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3 —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48872" cy="9601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Key result:  charge residual width &lt; 500 electrons across evaluated configurations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97480"/>
            <a:ext cx="2194560" cy="68580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7706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Including neighboring-pixel induction (collection_plus_neighbors) improves recovery and reduces ghost hits.  Center-only template overestimates charge on induction pixels.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20440"/>
            <a:ext cx="2194560" cy="68580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5204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93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Pixel-axis Gaussian at sigma ~ 0.8 pitch provides good spatial resolution. Temporal sigma of 1.6 us (one digitization period) preserves timing while suppressing noise.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43400"/>
            <a:ext cx="2194560" cy="68580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3434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4165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Lower threshold preserves more of the rising waveform and reduces start-time ambiguity. 5000 e- threshold significantly degrades deconvolution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66360"/>
            <a:ext cx="2194560" cy="68580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51663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52395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Noise is a subleading contribution. Waveform truncation and threshold effects dominate reconstruction uncertainty in the current setup.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 — Truth Bookkeeping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Linking reconstructed charge to simulation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4 —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True ionization charge and deconvolved charge cannot be compared directly because detector smearing affects both.  A naive point-by-point comparison would suffer from spatial mismatch.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Solution: apply the same Gaussian smearing to both sides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01752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TRED saves true ionization charge with particle ID per voxel</a:t>
            </a:r>
          </a:p>
          <a:p>
            <a:r>
              <a:rPr sz="1400">
                <a:solidFill>
                  <a:srgbClr val="1A1A2E"/>
                </a:solidFill>
              </a:rPr>
              <a:t>  •  Apply identical 3D Gaussian filter (sigma_pixel, sigma_time) to the true charge</a:t>
            </a:r>
          </a:p>
          <a:p>
            <a:r>
              <a:rPr sz="1400">
                <a:solidFill>
                  <a:srgbClr val="1A1A2E"/>
                </a:solidFill>
              </a:rPr>
              <a:t>  •  Define active voxel set from deconvolved output</a:t>
            </a:r>
          </a:p>
          <a:p>
            <a:r>
              <a:rPr sz="1400">
                <a:solidFill>
                  <a:srgbClr val="1A1A2E"/>
                </a:solidFill>
              </a:rPr>
              <a:t>  •  Sum smeared true charge within each active (pixel, time-bin) pair</a:t>
            </a:r>
          </a:p>
          <a:p>
            <a:r>
              <a:rPr sz="1400">
                <a:solidFill>
                  <a:srgbClr val="1A1A2E"/>
                </a:solidFill>
              </a:rPr>
              <a:t>  •  Link total true charge in each pair to the particle ID with the largest contribution</a:t>
            </a:r>
          </a:p>
          <a:p>
            <a:r>
              <a:rPr sz="1400">
                <a:solidFill>
                  <a:srgbClr val="1A1A2E"/>
                </a:solidFill>
              </a:rPr>
              <a:t>  •  Residual = deconvolved charge - smeared true charge  per active voxel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166360"/>
            <a:ext cx="1154887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212080"/>
            <a:ext cx="11183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This provides a direct bridge between the signal-processing chain and machine-learning-based reconstruction workflows that rely on ionization history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 — Hardware &amp; Readout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What the detector needs to do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4 —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GPU acceleration (ongoing benchmark)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FFT deconvolution is O(N log N); scales favorably with detector size</a:t>
            </a:r>
          </a:p>
          <a:p>
            <a:r>
              <a:rPr sz="1300">
                <a:solidFill>
                  <a:srgbClr val="1A1A2E"/>
                </a:solidFill>
              </a:rPr>
              <a:t>  •  PyTorch / CuPy rfftn enables GPU offload with minimal code change</a:t>
            </a:r>
          </a:p>
          <a:p>
            <a:r>
              <a:rPr sz="1300">
                <a:solidFill>
                  <a:srgbClr val="1A1A2E"/>
                </a:solidFill>
              </a:rPr>
              <a:t>  •  CPU vs GPU benchmark is planned but not yet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Readout design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577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Low threshold:  preserves rising waveform, reduces start-time ambiguity</a:t>
            </a:r>
          </a:p>
          <a:p>
            <a:r>
              <a:rPr sz="1300">
                <a:solidFill>
                  <a:srgbClr val="1A1A2E"/>
                </a:solidFill>
              </a:rPr>
              <a:t>  •  Short burst sequence:  limits missing waveform fraction</a:t>
            </a:r>
          </a:p>
          <a:p>
            <a:r>
              <a:rPr sz="1300">
                <a:solidFill>
                  <a:srgbClr val="1A1A2E"/>
                </a:solidFill>
              </a:rPr>
              <a:t>  •  Threshold uniformity across pixels is important (todo: quantify)</a:t>
            </a:r>
          </a:p>
          <a:p>
            <a:r>
              <a:rPr sz="1300">
                <a:solidFill>
                  <a:srgbClr val="1A1A2E"/>
                </a:solidFill>
              </a:rPr>
              <a:t>  •  Saturation: non-reset during burst means charge can saturate at high topology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8A"/>
                </a:solidFill>
              </a:rPr>
              <a:t>Shield grid study (DUNE internal)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2336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</a:rPr>
              <a:t>  •  Ramo theorem: adding a shield grid sharpens the collection-pixel signal</a:t>
            </a:r>
          </a:p>
          <a:p>
            <a:r>
              <a:rPr sz="1400">
                <a:solidFill>
                  <a:srgbClr val="1A1A2E"/>
                </a:solidFill>
              </a:rPr>
              <a:t>  •  Suppresses long-range induction on neighboring pixels</a:t>
            </a:r>
          </a:p>
          <a:p>
            <a:r>
              <a:rPr sz="1400">
                <a:solidFill>
                  <a:srgbClr val="1A1A2E"/>
                </a:solidFill>
              </a:rPr>
              <a:t>  •  Shorter effective waveform  =&gt;  smaller missing-waveform fraction</a:t>
            </a:r>
          </a:p>
          <a:p>
            <a:r>
              <a:rPr sz="1400">
                <a:solidFill>
                  <a:srgbClr val="1A1A2E"/>
                </a:solidFill>
              </a:rPr>
              <a:t>  •  Expected results: cleaner event display, fewer ghost hits, smaller residual width</a:t>
            </a:r>
          </a:p>
          <a:p>
            <a:r>
              <a:rPr sz="1400">
                <a:solidFill>
                  <a:srgbClr val="1A1A2E"/>
                </a:solidFill>
              </a:rPr>
              <a:t>  •  Demonstrated using same simulation setup with and without shield grid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411480" cy="50292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544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Physics-guided waveform recovery via two-pass burst processing (dead-time merge + template compensation)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76272"/>
            <a:ext cx="411480" cy="50292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7627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Separate collection and induction templates for pixels with different charge levels (V3)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98064"/>
            <a:ext cx="411480" cy="50292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79806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FFT-based 3D deconvolution with integrated field-response kernel and Gaussian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19856"/>
            <a:ext cx="411480" cy="50292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41985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83864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Charge residual width below 500 electrons demonstrated in simulation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41648"/>
            <a:ext cx="411480" cy="502920"/>
          </a:xfrm>
          <a:prstGeom prst="rect">
            <a:avLst/>
          </a:prstGeom>
          <a:solidFill>
            <a:srgbClr val="E86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04164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Truth bookkeeping framework linking reconstructed charge to simulation particle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937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C0A"/>
                </a:solidFill>
              </a:rPr>
              <a:t>Open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257800"/>
            <a:ext cx="11430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  •  Wiener-inspired frequency filter for voxel selection (ongoing)</a:t>
            </a:r>
          </a:p>
          <a:p>
            <a:r>
              <a:rPr sz="1300">
                <a:solidFill>
                  <a:srgbClr val="1A1A2E"/>
                </a:solidFill>
              </a:rPr>
              <a:t>  •  Block-wise deconvolution for large events (planned)</a:t>
            </a:r>
          </a:p>
          <a:p>
            <a:r>
              <a:rPr sz="1300">
                <a:solidFill>
                  <a:srgbClr val="1A1A2E"/>
                </a:solidFill>
              </a:rPr>
              <a:t>  •  CPU vs GPU benchmark (planned)</a:t>
            </a:r>
          </a:p>
          <a:p>
            <a:r>
              <a:rPr sz="1300">
                <a:solidFill>
                  <a:srgbClr val="1A1A2E"/>
                </a:solidFill>
              </a:rPr>
              <a:t>  •  Threshold uniformity and saturation studies (planned)</a:t>
            </a:r>
          </a:p>
          <a:p>
            <a:r>
              <a:rPr sz="1300">
                <a:solidFill>
                  <a:srgbClr val="1A1A2E"/>
                </a:solidFill>
              </a:rPr>
              <a:t>  •  Shield grid study results (DUNE internal review)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